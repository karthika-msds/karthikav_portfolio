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2" r:id="rId1"/>
  </p:sldMasterIdLst>
  <p:notesMasterIdLst>
    <p:notesMasterId r:id="rId12"/>
  </p:notesMasterIdLst>
  <p:sldIdLst>
    <p:sldId id="256" r:id="rId2"/>
    <p:sldId id="261" r:id="rId3"/>
    <p:sldId id="265" r:id="rId4"/>
    <p:sldId id="266" r:id="rId5"/>
    <p:sldId id="267" r:id="rId6"/>
    <p:sldId id="268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9088" autoAdjust="0"/>
  </p:normalViewPr>
  <p:slideViewPr>
    <p:cSldViewPr snapToGrid="0">
      <p:cViewPr varScale="1">
        <p:scale>
          <a:sx n="43" d="100"/>
          <a:sy n="43" d="100"/>
        </p:scale>
        <p:origin x="15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7" d="100"/>
        <a:sy n="77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a Vellingiri" userId="2f791443-b2b6-40db-8581-89f0c0794d11" providerId="ADAL" clId="{55E25AE7-AA8E-4538-B779-72A04E739CB9}"/>
    <pc:docChg chg="modSld">
      <pc:chgData name="Karthika Vellingiri" userId="2f791443-b2b6-40db-8581-89f0c0794d11" providerId="ADAL" clId="{55E25AE7-AA8E-4538-B779-72A04E739CB9}" dt="2026-03-07T03:44:27.061" v="0" actId="6549"/>
      <pc:docMkLst>
        <pc:docMk/>
      </pc:docMkLst>
      <pc:sldChg chg="modSp mod">
        <pc:chgData name="Karthika Vellingiri" userId="2f791443-b2b6-40db-8581-89f0c0794d11" providerId="ADAL" clId="{55E25AE7-AA8E-4538-B779-72A04E739CB9}" dt="2026-03-07T03:44:27.061" v="0" actId="6549"/>
        <pc:sldMkLst>
          <pc:docMk/>
          <pc:sldMk cId="1466995318" sldId="256"/>
        </pc:sldMkLst>
        <pc:spChg chg="mod">
          <ac:chgData name="Karthika Vellingiri" userId="2f791443-b2b6-40db-8581-89f0c0794d11" providerId="ADAL" clId="{55E25AE7-AA8E-4538-B779-72A04E739CB9}" dt="2026-03-07T03:44:27.061" v="0" actId="6549"/>
          <ac:spMkLst>
            <pc:docMk/>
            <pc:sldMk cId="1466995318" sldId="256"/>
            <ac:spMk id="8" creationId="{D7C1E1C7-6B0F-81DA-396C-FE32341723D6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EAA592-ED8F-41DB-994B-BDBB959F53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F917039-876D-498A-AF05-A13779323342}">
      <dgm:prSet/>
      <dgm:spPr/>
      <dgm:t>
        <a:bodyPr/>
        <a:lstStyle/>
        <a:p>
          <a:r>
            <a:rPr lang="en-US" b="1" i="0" baseline="0" dirty="0"/>
            <a:t>Largest share</a:t>
          </a:r>
          <a:r>
            <a:rPr lang="en-US" b="0" i="0" baseline="0" dirty="0"/>
            <a:t> of families spend </a:t>
          </a:r>
          <a:r>
            <a:rPr lang="en-US" b="1" i="0" baseline="0" dirty="0"/>
            <a:t>15–25%</a:t>
          </a:r>
          <a:r>
            <a:rPr lang="en-US" b="0" i="0" baseline="0" dirty="0"/>
            <a:t> of income on childcare (124.88%).</a:t>
          </a:r>
          <a:endParaRPr lang="en-US" dirty="0"/>
        </a:p>
      </dgm:t>
    </dgm:pt>
    <dgm:pt modelId="{05CBB6B4-5160-4854-B1C3-D5F1581E0C38}" type="parTrans" cxnId="{20FDD880-143C-49F2-A266-41CDDADAC362}">
      <dgm:prSet/>
      <dgm:spPr/>
      <dgm:t>
        <a:bodyPr/>
        <a:lstStyle/>
        <a:p>
          <a:endParaRPr lang="en-US"/>
        </a:p>
      </dgm:t>
    </dgm:pt>
    <dgm:pt modelId="{A23DFBBB-A572-4F79-8AA6-F89F151468E7}" type="sibTrans" cxnId="{20FDD880-143C-49F2-A266-41CDDADAC362}">
      <dgm:prSet/>
      <dgm:spPr/>
      <dgm:t>
        <a:bodyPr/>
        <a:lstStyle/>
        <a:p>
          <a:endParaRPr lang="en-US"/>
        </a:p>
      </dgm:t>
    </dgm:pt>
    <dgm:pt modelId="{D4495AD8-6C4A-4563-A6CD-9111106D124A}">
      <dgm:prSet/>
      <dgm:spPr/>
      <dgm:t>
        <a:bodyPr/>
        <a:lstStyle/>
        <a:p>
          <a:r>
            <a:rPr lang="en-US" b="1" i="0" baseline="0" dirty="0"/>
            <a:t>10–15%</a:t>
          </a:r>
          <a:r>
            <a:rPr lang="en-US" b="0" i="0" baseline="0" dirty="0"/>
            <a:t> range is also significant (108.60%).</a:t>
          </a:r>
          <a:endParaRPr lang="en-US" dirty="0"/>
        </a:p>
      </dgm:t>
    </dgm:pt>
    <dgm:pt modelId="{99073FE6-2F81-4F64-A850-A2571051F2D0}" type="parTrans" cxnId="{7C56EA59-8BFC-4C7F-A48A-F1F140898D22}">
      <dgm:prSet/>
      <dgm:spPr/>
      <dgm:t>
        <a:bodyPr/>
        <a:lstStyle/>
        <a:p>
          <a:endParaRPr lang="en-US"/>
        </a:p>
      </dgm:t>
    </dgm:pt>
    <dgm:pt modelId="{47D053C4-A661-434C-A062-5953C4E20B68}" type="sibTrans" cxnId="{7C56EA59-8BFC-4C7F-A48A-F1F140898D22}">
      <dgm:prSet/>
      <dgm:spPr/>
      <dgm:t>
        <a:bodyPr/>
        <a:lstStyle/>
        <a:p>
          <a:endParaRPr lang="en-US"/>
        </a:p>
      </dgm:t>
    </dgm:pt>
    <dgm:pt modelId="{EB0A23BD-8CD2-4B86-BE7B-EC9BC3EB4923}">
      <dgm:prSet/>
      <dgm:spPr/>
      <dgm:t>
        <a:bodyPr/>
        <a:lstStyle/>
        <a:p>
          <a:r>
            <a:rPr lang="en-US" b="1" i="0" baseline="0"/>
            <a:t>25–50%</a:t>
          </a:r>
          <a:r>
            <a:rPr lang="en-US" b="0" i="0" baseline="0"/>
            <a:t>: 105.57%, showing a sizable high-cost burden group.</a:t>
          </a:r>
          <a:endParaRPr lang="en-US"/>
        </a:p>
      </dgm:t>
    </dgm:pt>
    <dgm:pt modelId="{0E581052-9715-4739-A7AA-614AC280E6EC}" type="parTrans" cxnId="{4D396161-CA34-437D-9ECE-BE5146B52B9D}">
      <dgm:prSet/>
      <dgm:spPr/>
      <dgm:t>
        <a:bodyPr/>
        <a:lstStyle/>
        <a:p>
          <a:endParaRPr lang="en-US"/>
        </a:p>
      </dgm:t>
    </dgm:pt>
    <dgm:pt modelId="{49692903-A029-4D51-A994-D794C976FF1B}" type="sibTrans" cxnId="{4D396161-CA34-437D-9ECE-BE5146B52B9D}">
      <dgm:prSet/>
      <dgm:spPr/>
      <dgm:t>
        <a:bodyPr/>
        <a:lstStyle/>
        <a:p>
          <a:endParaRPr lang="en-US"/>
        </a:p>
      </dgm:t>
    </dgm:pt>
    <dgm:pt modelId="{B38E669B-F72E-4FF0-AA19-6C45747E9C96}">
      <dgm:prSet/>
      <dgm:spPr/>
      <dgm:t>
        <a:bodyPr/>
        <a:lstStyle/>
        <a:p>
          <a:r>
            <a:rPr lang="en-US" b="1" i="0" baseline="0"/>
            <a:t>&gt;50%</a:t>
          </a:r>
          <a:r>
            <a:rPr lang="en-US" b="0" i="0" baseline="0"/>
            <a:t>: 91.93%, indicating extreme affordability issues for many families.</a:t>
          </a:r>
          <a:endParaRPr lang="en-US"/>
        </a:p>
      </dgm:t>
    </dgm:pt>
    <dgm:pt modelId="{430ECC8E-B4EC-471B-B62C-48CA49C76D6C}" type="parTrans" cxnId="{BEDE30ED-7868-488C-87C0-6378AB009C43}">
      <dgm:prSet/>
      <dgm:spPr/>
      <dgm:t>
        <a:bodyPr/>
        <a:lstStyle/>
        <a:p>
          <a:endParaRPr lang="en-US"/>
        </a:p>
      </dgm:t>
    </dgm:pt>
    <dgm:pt modelId="{718D2EE3-FF13-4C8C-8685-FE222988A924}" type="sibTrans" cxnId="{BEDE30ED-7868-488C-87C0-6378AB009C43}">
      <dgm:prSet/>
      <dgm:spPr/>
      <dgm:t>
        <a:bodyPr/>
        <a:lstStyle/>
        <a:p>
          <a:endParaRPr lang="en-US"/>
        </a:p>
      </dgm:t>
    </dgm:pt>
    <dgm:pt modelId="{6E8FC35E-B5CC-4E8B-B49B-BF8EA944C23D}">
      <dgm:prSet/>
      <dgm:spPr/>
      <dgm:t>
        <a:bodyPr/>
        <a:lstStyle/>
        <a:p>
          <a:r>
            <a:rPr lang="en-US" b="1" i="0" baseline="0"/>
            <a:t>Lowest share</a:t>
          </a:r>
          <a:r>
            <a:rPr lang="en-US" b="0" i="0" baseline="0"/>
            <a:t>: 0–5% (98.93%) and 5–10% (80.41%), showing few families experience minimal cost burden.</a:t>
          </a:r>
          <a:endParaRPr lang="en-US"/>
        </a:p>
      </dgm:t>
    </dgm:pt>
    <dgm:pt modelId="{A5D83B02-041B-4D9F-88CD-7BAA0B5D5636}" type="parTrans" cxnId="{8127B9F9-FD55-42E4-B776-12D91155622E}">
      <dgm:prSet/>
      <dgm:spPr/>
      <dgm:t>
        <a:bodyPr/>
        <a:lstStyle/>
        <a:p>
          <a:endParaRPr lang="en-US"/>
        </a:p>
      </dgm:t>
    </dgm:pt>
    <dgm:pt modelId="{29B5E79B-C560-40CD-893A-E01F0424E3FC}" type="sibTrans" cxnId="{8127B9F9-FD55-42E4-B776-12D91155622E}">
      <dgm:prSet/>
      <dgm:spPr/>
      <dgm:t>
        <a:bodyPr/>
        <a:lstStyle/>
        <a:p>
          <a:endParaRPr lang="en-US"/>
        </a:p>
      </dgm:t>
    </dgm:pt>
    <dgm:pt modelId="{796DCBEC-583F-4773-A361-9191196C6B64}" type="pres">
      <dgm:prSet presAssocID="{90EAA592-ED8F-41DB-994B-BDBB959F53DE}" presName="linear" presStyleCnt="0">
        <dgm:presLayoutVars>
          <dgm:animLvl val="lvl"/>
          <dgm:resizeHandles val="exact"/>
        </dgm:presLayoutVars>
      </dgm:prSet>
      <dgm:spPr/>
    </dgm:pt>
    <dgm:pt modelId="{27D5B863-7F69-4FAC-A49D-C25D654A42F9}" type="pres">
      <dgm:prSet presAssocID="{0F917039-876D-498A-AF05-A1377932334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0DA9C83-C4FA-49E0-B5BD-6B7ACEF2BE39}" type="pres">
      <dgm:prSet presAssocID="{A23DFBBB-A572-4F79-8AA6-F89F151468E7}" presName="spacer" presStyleCnt="0"/>
      <dgm:spPr/>
    </dgm:pt>
    <dgm:pt modelId="{BFFE0742-519E-49A4-ADF0-F96AA6794BDE}" type="pres">
      <dgm:prSet presAssocID="{D4495AD8-6C4A-4563-A6CD-9111106D124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28DF2F2-B483-425C-8430-C597ABA0EF53}" type="pres">
      <dgm:prSet presAssocID="{47D053C4-A661-434C-A062-5953C4E20B68}" presName="spacer" presStyleCnt="0"/>
      <dgm:spPr/>
    </dgm:pt>
    <dgm:pt modelId="{2B54BBE2-3CE0-4DE6-AC45-50AF47793BFC}" type="pres">
      <dgm:prSet presAssocID="{EB0A23BD-8CD2-4B86-BE7B-EC9BC3EB492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FA06D93-229D-4803-82E2-161332A22D6A}" type="pres">
      <dgm:prSet presAssocID="{49692903-A029-4D51-A994-D794C976FF1B}" presName="spacer" presStyleCnt="0"/>
      <dgm:spPr/>
    </dgm:pt>
    <dgm:pt modelId="{346A3DCF-44B0-403D-B791-7A4089669EDA}" type="pres">
      <dgm:prSet presAssocID="{B38E669B-F72E-4FF0-AA19-6C45747E9C9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22D544-C763-4C37-9768-D3647E161DE2}" type="pres">
      <dgm:prSet presAssocID="{718D2EE3-FF13-4C8C-8685-FE222988A924}" presName="spacer" presStyleCnt="0"/>
      <dgm:spPr/>
    </dgm:pt>
    <dgm:pt modelId="{598286F5-8F4C-4228-B343-21918AD2D192}" type="pres">
      <dgm:prSet presAssocID="{6E8FC35E-B5CC-4E8B-B49B-BF8EA944C23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D396161-CA34-437D-9ECE-BE5146B52B9D}" srcId="{90EAA592-ED8F-41DB-994B-BDBB959F53DE}" destId="{EB0A23BD-8CD2-4B86-BE7B-EC9BC3EB4923}" srcOrd="2" destOrd="0" parTransId="{0E581052-9715-4739-A7AA-614AC280E6EC}" sibTransId="{49692903-A029-4D51-A994-D794C976FF1B}"/>
    <dgm:cxn modelId="{550B7065-C6F4-4ECE-A545-1E93B55377E0}" type="presOf" srcId="{6E8FC35E-B5CC-4E8B-B49B-BF8EA944C23D}" destId="{598286F5-8F4C-4228-B343-21918AD2D192}" srcOrd="0" destOrd="0" presId="urn:microsoft.com/office/officeart/2005/8/layout/vList2"/>
    <dgm:cxn modelId="{6809EA68-F86A-4444-AF42-CAB4294750AC}" type="presOf" srcId="{0F917039-876D-498A-AF05-A13779323342}" destId="{27D5B863-7F69-4FAC-A49D-C25D654A42F9}" srcOrd="0" destOrd="0" presId="urn:microsoft.com/office/officeart/2005/8/layout/vList2"/>
    <dgm:cxn modelId="{A789096D-1F0D-468C-A141-C07471118E45}" type="presOf" srcId="{90EAA592-ED8F-41DB-994B-BDBB959F53DE}" destId="{796DCBEC-583F-4773-A361-9191196C6B64}" srcOrd="0" destOrd="0" presId="urn:microsoft.com/office/officeart/2005/8/layout/vList2"/>
    <dgm:cxn modelId="{7C56EA59-8BFC-4C7F-A48A-F1F140898D22}" srcId="{90EAA592-ED8F-41DB-994B-BDBB959F53DE}" destId="{D4495AD8-6C4A-4563-A6CD-9111106D124A}" srcOrd="1" destOrd="0" parTransId="{99073FE6-2F81-4F64-A850-A2571051F2D0}" sibTransId="{47D053C4-A661-434C-A062-5953C4E20B68}"/>
    <dgm:cxn modelId="{20FDD880-143C-49F2-A266-41CDDADAC362}" srcId="{90EAA592-ED8F-41DB-994B-BDBB959F53DE}" destId="{0F917039-876D-498A-AF05-A13779323342}" srcOrd="0" destOrd="0" parTransId="{05CBB6B4-5160-4854-B1C3-D5F1581E0C38}" sibTransId="{A23DFBBB-A572-4F79-8AA6-F89F151468E7}"/>
    <dgm:cxn modelId="{5CE1FBA7-7FD6-4EFC-AEF8-07AD6D168D06}" type="presOf" srcId="{B38E669B-F72E-4FF0-AA19-6C45747E9C96}" destId="{346A3DCF-44B0-403D-B791-7A4089669EDA}" srcOrd="0" destOrd="0" presId="urn:microsoft.com/office/officeart/2005/8/layout/vList2"/>
    <dgm:cxn modelId="{59B17CAE-BE51-400A-80F5-939927C03F09}" type="presOf" srcId="{EB0A23BD-8CD2-4B86-BE7B-EC9BC3EB4923}" destId="{2B54BBE2-3CE0-4DE6-AC45-50AF47793BFC}" srcOrd="0" destOrd="0" presId="urn:microsoft.com/office/officeart/2005/8/layout/vList2"/>
    <dgm:cxn modelId="{CC7BB7E3-3092-4993-8790-F387EDBE2BB8}" type="presOf" srcId="{D4495AD8-6C4A-4563-A6CD-9111106D124A}" destId="{BFFE0742-519E-49A4-ADF0-F96AA6794BDE}" srcOrd="0" destOrd="0" presId="urn:microsoft.com/office/officeart/2005/8/layout/vList2"/>
    <dgm:cxn modelId="{BEDE30ED-7868-488C-87C0-6378AB009C43}" srcId="{90EAA592-ED8F-41DB-994B-BDBB959F53DE}" destId="{B38E669B-F72E-4FF0-AA19-6C45747E9C96}" srcOrd="3" destOrd="0" parTransId="{430ECC8E-B4EC-471B-B62C-48CA49C76D6C}" sibTransId="{718D2EE3-FF13-4C8C-8685-FE222988A924}"/>
    <dgm:cxn modelId="{8127B9F9-FD55-42E4-B776-12D91155622E}" srcId="{90EAA592-ED8F-41DB-994B-BDBB959F53DE}" destId="{6E8FC35E-B5CC-4E8B-B49B-BF8EA944C23D}" srcOrd="4" destOrd="0" parTransId="{A5D83B02-041B-4D9F-88CD-7BAA0B5D5636}" sibTransId="{29B5E79B-C560-40CD-893A-E01F0424E3FC}"/>
    <dgm:cxn modelId="{16D24E1D-66AF-4DF2-AD56-BFFA0660EADC}" type="presParOf" srcId="{796DCBEC-583F-4773-A361-9191196C6B64}" destId="{27D5B863-7F69-4FAC-A49D-C25D654A42F9}" srcOrd="0" destOrd="0" presId="urn:microsoft.com/office/officeart/2005/8/layout/vList2"/>
    <dgm:cxn modelId="{1D17DC41-8AA1-4CC7-86A3-32A40A677C80}" type="presParOf" srcId="{796DCBEC-583F-4773-A361-9191196C6B64}" destId="{80DA9C83-C4FA-49E0-B5BD-6B7ACEF2BE39}" srcOrd="1" destOrd="0" presId="urn:microsoft.com/office/officeart/2005/8/layout/vList2"/>
    <dgm:cxn modelId="{3151B160-2E4B-4BD6-BBEB-614DFFB494C8}" type="presParOf" srcId="{796DCBEC-583F-4773-A361-9191196C6B64}" destId="{BFFE0742-519E-49A4-ADF0-F96AA6794BDE}" srcOrd="2" destOrd="0" presId="urn:microsoft.com/office/officeart/2005/8/layout/vList2"/>
    <dgm:cxn modelId="{8A091A16-3F35-46CB-A978-F08D5DCBD74E}" type="presParOf" srcId="{796DCBEC-583F-4773-A361-9191196C6B64}" destId="{528DF2F2-B483-425C-8430-C597ABA0EF53}" srcOrd="3" destOrd="0" presId="urn:microsoft.com/office/officeart/2005/8/layout/vList2"/>
    <dgm:cxn modelId="{C876FDAE-2874-43B1-9B84-00176408F18B}" type="presParOf" srcId="{796DCBEC-583F-4773-A361-9191196C6B64}" destId="{2B54BBE2-3CE0-4DE6-AC45-50AF47793BFC}" srcOrd="4" destOrd="0" presId="urn:microsoft.com/office/officeart/2005/8/layout/vList2"/>
    <dgm:cxn modelId="{FE0C4AB5-91BD-4469-AC8F-727B5F0B10B9}" type="presParOf" srcId="{796DCBEC-583F-4773-A361-9191196C6B64}" destId="{5FA06D93-229D-4803-82E2-161332A22D6A}" srcOrd="5" destOrd="0" presId="urn:microsoft.com/office/officeart/2005/8/layout/vList2"/>
    <dgm:cxn modelId="{99FA9D07-E1E6-4F21-AA6B-08C82D2620D7}" type="presParOf" srcId="{796DCBEC-583F-4773-A361-9191196C6B64}" destId="{346A3DCF-44B0-403D-B791-7A4089669EDA}" srcOrd="6" destOrd="0" presId="urn:microsoft.com/office/officeart/2005/8/layout/vList2"/>
    <dgm:cxn modelId="{FC85D89B-6817-40A9-AFF1-D9310CD3D715}" type="presParOf" srcId="{796DCBEC-583F-4773-A361-9191196C6B64}" destId="{C322D544-C763-4C37-9768-D3647E161DE2}" srcOrd="7" destOrd="0" presId="urn:microsoft.com/office/officeart/2005/8/layout/vList2"/>
    <dgm:cxn modelId="{7AA99341-5175-4DDA-8A33-CB5EED80B7BE}" type="presParOf" srcId="{796DCBEC-583F-4773-A361-9191196C6B64}" destId="{598286F5-8F4C-4228-B343-21918AD2D19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8FFB0B-BAAE-4BA7-993E-04AC99D096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E5E3612-4BD3-4A98-A7A8-DDA74A1B0304}">
      <dgm:prSet/>
      <dgm:spPr/>
      <dgm:t>
        <a:bodyPr/>
        <a:lstStyle/>
        <a:p>
          <a:r>
            <a:rPr lang="en-US" b="1" dirty="0"/>
            <a:t>Expand Child Tax Credit:</a:t>
          </a:r>
          <a:r>
            <a:rPr lang="en-US" dirty="0"/>
            <a:t> Increase federal tax credits to offset childcare expenses, particularly for families earning under $100,000 annually.</a:t>
          </a:r>
        </a:p>
      </dgm:t>
    </dgm:pt>
    <dgm:pt modelId="{F2441687-D66A-455A-822F-A72AF5D4FBC2}" type="parTrans" cxnId="{1C88A7AB-F778-4584-B18C-226AB72B63DC}">
      <dgm:prSet/>
      <dgm:spPr/>
      <dgm:t>
        <a:bodyPr/>
        <a:lstStyle/>
        <a:p>
          <a:endParaRPr lang="en-US"/>
        </a:p>
      </dgm:t>
    </dgm:pt>
    <dgm:pt modelId="{2F2E9645-596E-4C5B-B8CB-75804DA3D643}" type="sibTrans" cxnId="{1C88A7AB-F778-4584-B18C-226AB72B63DC}">
      <dgm:prSet/>
      <dgm:spPr/>
      <dgm:t>
        <a:bodyPr/>
        <a:lstStyle/>
        <a:p>
          <a:endParaRPr lang="en-US"/>
        </a:p>
      </dgm:t>
    </dgm:pt>
    <dgm:pt modelId="{0DEE34D9-4641-456D-A22E-F8026FC04993}">
      <dgm:prSet/>
      <dgm:spPr/>
      <dgm:t>
        <a:bodyPr/>
        <a:lstStyle/>
        <a:p>
          <a:r>
            <a:rPr lang="en-US" b="1" dirty="0"/>
            <a:t>Subsidize Provider Infrastructure:</a:t>
          </a:r>
          <a:r>
            <a:rPr lang="en-US" dirty="0"/>
            <a:t> Invest in childcare facility construction and workforce development to increase supply and reduce costs.</a:t>
          </a:r>
        </a:p>
      </dgm:t>
    </dgm:pt>
    <dgm:pt modelId="{71E0704C-6659-447B-905D-8C681BFBBE34}" type="parTrans" cxnId="{37B0E1B2-0DA7-463F-A19F-12B36A2A059B}">
      <dgm:prSet/>
      <dgm:spPr/>
      <dgm:t>
        <a:bodyPr/>
        <a:lstStyle/>
        <a:p>
          <a:endParaRPr lang="en-US"/>
        </a:p>
      </dgm:t>
    </dgm:pt>
    <dgm:pt modelId="{C04CFBC6-9169-4EFA-AEAF-E04D9081D3EA}" type="sibTrans" cxnId="{37B0E1B2-0DA7-463F-A19F-12B36A2A059B}">
      <dgm:prSet/>
      <dgm:spPr/>
      <dgm:t>
        <a:bodyPr/>
        <a:lstStyle/>
        <a:p>
          <a:endParaRPr lang="en-US"/>
        </a:p>
      </dgm:t>
    </dgm:pt>
    <dgm:pt modelId="{1B141E9E-7A03-4298-B32B-0F6D26D64E02}">
      <dgm:prSet/>
      <dgm:spPr/>
      <dgm:t>
        <a:bodyPr/>
        <a:lstStyle/>
        <a:p>
          <a:r>
            <a:rPr lang="en-US" b="1"/>
            <a:t>Employer Incentives:</a:t>
          </a:r>
          <a:r>
            <a:rPr lang="en-US"/>
            <a:t> Create tax breaks for companies offering childcare benefits or on-site facilities to their employees.</a:t>
          </a:r>
        </a:p>
      </dgm:t>
    </dgm:pt>
    <dgm:pt modelId="{57AC1722-F876-40E7-ABFB-F18FA41588BF}" type="parTrans" cxnId="{E6B15BFE-D022-4EA2-8D84-6C63F888935F}">
      <dgm:prSet/>
      <dgm:spPr/>
      <dgm:t>
        <a:bodyPr/>
        <a:lstStyle/>
        <a:p>
          <a:endParaRPr lang="en-US"/>
        </a:p>
      </dgm:t>
    </dgm:pt>
    <dgm:pt modelId="{39CE2163-289A-4E6E-B9EA-6E0C8B8790F8}" type="sibTrans" cxnId="{E6B15BFE-D022-4EA2-8D84-6C63F888935F}">
      <dgm:prSet/>
      <dgm:spPr/>
      <dgm:t>
        <a:bodyPr/>
        <a:lstStyle/>
        <a:p>
          <a:endParaRPr lang="en-US"/>
        </a:p>
      </dgm:t>
    </dgm:pt>
    <dgm:pt modelId="{02F84A83-246B-4A3D-9312-7001C63D1104}" type="pres">
      <dgm:prSet presAssocID="{D98FFB0B-BAAE-4BA7-993E-04AC99D09658}" presName="root" presStyleCnt="0">
        <dgm:presLayoutVars>
          <dgm:dir/>
          <dgm:resizeHandles val="exact"/>
        </dgm:presLayoutVars>
      </dgm:prSet>
      <dgm:spPr/>
    </dgm:pt>
    <dgm:pt modelId="{D412CFB8-2F96-48DA-9C24-5EC1E30DA833}" type="pres">
      <dgm:prSet presAssocID="{DE5E3612-4BD3-4A98-A7A8-DDA74A1B0304}" presName="compNode" presStyleCnt="0"/>
      <dgm:spPr/>
    </dgm:pt>
    <dgm:pt modelId="{C9BECA59-6A97-41D6-859E-933FAC73D6F2}" type="pres">
      <dgm:prSet presAssocID="{DE5E3612-4BD3-4A98-A7A8-DDA74A1B0304}" presName="bgRect" presStyleLbl="bgShp" presStyleIdx="0" presStyleCnt="3"/>
      <dgm:spPr/>
    </dgm:pt>
    <dgm:pt modelId="{6BEE9B3D-62FD-43DD-920D-8921919ADE06}" type="pres">
      <dgm:prSet presAssocID="{DE5E3612-4BD3-4A98-A7A8-DDA74A1B03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ent and Child"/>
        </a:ext>
      </dgm:extLst>
    </dgm:pt>
    <dgm:pt modelId="{25A3337E-5021-4502-8B23-73451EDB5D45}" type="pres">
      <dgm:prSet presAssocID="{DE5E3612-4BD3-4A98-A7A8-DDA74A1B0304}" presName="spaceRect" presStyleCnt="0"/>
      <dgm:spPr/>
    </dgm:pt>
    <dgm:pt modelId="{640AC8C9-C49C-40D8-B4C9-2944189DEA56}" type="pres">
      <dgm:prSet presAssocID="{DE5E3612-4BD3-4A98-A7A8-DDA74A1B0304}" presName="parTx" presStyleLbl="revTx" presStyleIdx="0" presStyleCnt="3">
        <dgm:presLayoutVars>
          <dgm:chMax val="0"/>
          <dgm:chPref val="0"/>
        </dgm:presLayoutVars>
      </dgm:prSet>
      <dgm:spPr/>
    </dgm:pt>
    <dgm:pt modelId="{080E3153-3EB4-43D9-8268-DB5077B630EA}" type="pres">
      <dgm:prSet presAssocID="{2F2E9645-596E-4C5B-B8CB-75804DA3D643}" presName="sibTrans" presStyleCnt="0"/>
      <dgm:spPr/>
    </dgm:pt>
    <dgm:pt modelId="{E0454D9B-A97A-4916-AB64-E0130CA3D203}" type="pres">
      <dgm:prSet presAssocID="{0DEE34D9-4641-456D-A22E-F8026FC04993}" presName="compNode" presStyleCnt="0"/>
      <dgm:spPr/>
    </dgm:pt>
    <dgm:pt modelId="{9BC1FE84-2AC5-4915-8BDB-AA09713F5829}" type="pres">
      <dgm:prSet presAssocID="{0DEE34D9-4641-456D-A22E-F8026FC04993}" presName="bgRect" presStyleLbl="bgShp" presStyleIdx="1" presStyleCnt="3"/>
      <dgm:spPr/>
    </dgm:pt>
    <dgm:pt modelId="{01B4BBF9-E136-4342-BE73-2309C9C97262}" type="pres">
      <dgm:prSet presAssocID="{0DEE34D9-4641-456D-A22E-F8026FC049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2DF855B7-ED42-41E3-8FEA-A678AB9316AB}" type="pres">
      <dgm:prSet presAssocID="{0DEE34D9-4641-456D-A22E-F8026FC04993}" presName="spaceRect" presStyleCnt="0"/>
      <dgm:spPr/>
    </dgm:pt>
    <dgm:pt modelId="{B6C05697-4765-4F5B-AB87-A920DD1B8D05}" type="pres">
      <dgm:prSet presAssocID="{0DEE34D9-4641-456D-A22E-F8026FC04993}" presName="parTx" presStyleLbl="revTx" presStyleIdx="1" presStyleCnt="3">
        <dgm:presLayoutVars>
          <dgm:chMax val="0"/>
          <dgm:chPref val="0"/>
        </dgm:presLayoutVars>
      </dgm:prSet>
      <dgm:spPr/>
    </dgm:pt>
    <dgm:pt modelId="{0154091C-0AC8-4F2C-A701-7F202BB8581F}" type="pres">
      <dgm:prSet presAssocID="{C04CFBC6-9169-4EFA-AEAF-E04D9081D3EA}" presName="sibTrans" presStyleCnt="0"/>
      <dgm:spPr/>
    </dgm:pt>
    <dgm:pt modelId="{B56CA729-238D-43C8-8F75-769FC4F5F738}" type="pres">
      <dgm:prSet presAssocID="{1B141E9E-7A03-4298-B32B-0F6D26D64E02}" presName="compNode" presStyleCnt="0"/>
      <dgm:spPr/>
    </dgm:pt>
    <dgm:pt modelId="{397FB36A-7DAE-42C4-85C9-CC9CFCFB1EFB}" type="pres">
      <dgm:prSet presAssocID="{1B141E9E-7A03-4298-B32B-0F6D26D64E02}" presName="bgRect" presStyleLbl="bgShp" presStyleIdx="2" presStyleCnt="3"/>
      <dgm:spPr/>
    </dgm:pt>
    <dgm:pt modelId="{D00F8C98-EF8E-4B55-A49F-082CFF96898E}" type="pres">
      <dgm:prSet presAssocID="{1B141E9E-7A03-4298-B32B-0F6D26D64E0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oller"/>
        </a:ext>
      </dgm:extLst>
    </dgm:pt>
    <dgm:pt modelId="{07623366-A066-4026-9840-16BD9D5BBB27}" type="pres">
      <dgm:prSet presAssocID="{1B141E9E-7A03-4298-B32B-0F6D26D64E02}" presName="spaceRect" presStyleCnt="0"/>
      <dgm:spPr/>
    </dgm:pt>
    <dgm:pt modelId="{95D9E820-D41D-4F7E-BC48-95D12FB5659D}" type="pres">
      <dgm:prSet presAssocID="{1B141E9E-7A03-4298-B32B-0F6D26D64E0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394DA69-89D2-47C9-AA41-DB1A65B75BC2}" type="presOf" srcId="{0DEE34D9-4641-456D-A22E-F8026FC04993}" destId="{B6C05697-4765-4F5B-AB87-A920DD1B8D05}" srcOrd="0" destOrd="0" presId="urn:microsoft.com/office/officeart/2018/2/layout/IconVerticalSolidList"/>
    <dgm:cxn modelId="{98306F6E-0894-449F-ABC7-32375B056A06}" type="presOf" srcId="{DE5E3612-4BD3-4A98-A7A8-DDA74A1B0304}" destId="{640AC8C9-C49C-40D8-B4C9-2944189DEA56}" srcOrd="0" destOrd="0" presId="urn:microsoft.com/office/officeart/2018/2/layout/IconVerticalSolidList"/>
    <dgm:cxn modelId="{D0417758-282D-4873-99F1-DD2745BD13E5}" type="presOf" srcId="{D98FFB0B-BAAE-4BA7-993E-04AC99D09658}" destId="{02F84A83-246B-4A3D-9312-7001C63D1104}" srcOrd="0" destOrd="0" presId="urn:microsoft.com/office/officeart/2018/2/layout/IconVerticalSolidList"/>
    <dgm:cxn modelId="{91336B8B-495B-45CA-B669-50B80EBEC6DA}" type="presOf" srcId="{1B141E9E-7A03-4298-B32B-0F6D26D64E02}" destId="{95D9E820-D41D-4F7E-BC48-95D12FB5659D}" srcOrd="0" destOrd="0" presId="urn:microsoft.com/office/officeart/2018/2/layout/IconVerticalSolidList"/>
    <dgm:cxn modelId="{1C88A7AB-F778-4584-B18C-226AB72B63DC}" srcId="{D98FFB0B-BAAE-4BA7-993E-04AC99D09658}" destId="{DE5E3612-4BD3-4A98-A7A8-DDA74A1B0304}" srcOrd="0" destOrd="0" parTransId="{F2441687-D66A-455A-822F-A72AF5D4FBC2}" sibTransId="{2F2E9645-596E-4C5B-B8CB-75804DA3D643}"/>
    <dgm:cxn modelId="{37B0E1B2-0DA7-463F-A19F-12B36A2A059B}" srcId="{D98FFB0B-BAAE-4BA7-993E-04AC99D09658}" destId="{0DEE34D9-4641-456D-A22E-F8026FC04993}" srcOrd="1" destOrd="0" parTransId="{71E0704C-6659-447B-905D-8C681BFBBE34}" sibTransId="{C04CFBC6-9169-4EFA-AEAF-E04D9081D3EA}"/>
    <dgm:cxn modelId="{E6B15BFE-D022-4EA2-8D84-6C63F888935F}" srcId="{D98FFB0B-BAAE-4BA7-993E-04AC99D09658}" destId="{1B141E9E-7A03-4298-B32B-0F6D26D64E02}" srcOrd="2" destOrd="0" parTransId="{57AC1722-F876-40E7-ABFB-F18FA41588BF}" sibTransId="{39CE2163-289A-4E6E-B9EA-6E0C8B8790F8}"/>
    <dgm:cxn modelId="{183DF1D9-BB61-4027-BE94-EC34D83FC410}" type="presParOf" srcId="{02F84A83-246B-4A3D-9312-7001C63D1104}" destId="{D412CFB8-2F96-48DA-9C24-5EC1E30DA833}" srcOrd="0" destOrd="0" presId="urn:microsoft.com/office/officeart/2018/2/layout/IconVerticalSolidList"/>
    <dgm:cxn modelId="{49A76D2A-B6F4-49A8-9583-6DC3D510F405}" type="presParOf" srcId="{D412CFB8-2F96-48DA-9C24-5EC1E30DA833}" destId="{C9BECA59-6A97-41D6-859E-933FAC73D6F2}" srcOrd="0" destOrd="0" presId="urn:microsoft.com/office/officeart/2018/2/layout/IconVerticalSolidList"/>
    <dgm:cxn modelId="{E13C31B1-EAD1-4A71-AFCE-1640ACB4BBF1}" type="presParOf" srcId="{D412CFB8-2F96-48DA-9C24-5EC1E30DA833}" destId="{6BEE9B3D-62FD-43DD-920D-8921919ADE06}" srcOrd="1" destOrd="0" presId="urn:microsoft.com/office/officeart/2018/2/layout/IconVerticalSolidList"/>
    <dgm:cxn modelId="{8AED46B3-68B7-487B-A0D8-74D15BA96F24}" type="presParOf" srcId="{D412CFB8-2F96-48DA-9C24-5EC1E30DA833}" destId="{25A3337E-5021-4502-8B23-73451EDB5D45}" srcOrd="2" destOrd="0" presId="urn:microsoft.com/office/officeart/2018/2/layout/IconVerticalSolidList"/>
    <dgm:cxn modelId="{5EB42865-7117-4B17-8841-01E490F3588E}" type="presParOf" srcId="{D412CFB8-2F96-48DA-9C24-5EC1E30DA833}" destId="{640AC8C9-C49C-40D8-B4C9-2944189DEA56}" srcOrd="3" destOrd="0" presId="urn:microsoft.com/office/officeart/2018/2/layout/IconVerticalSolidList"/>
    <dgm:cxn modelId="{7E4A0CD4-82F0-4F41-825D-C5D61379DBA3}" type="presParOf" srcId="{02F84A83-246B-4A3D-9312-7001C63D1104}" destId="{080E3153-3EB4-43D9-8268-DB5077B630EA}" srcOrd="1" destOrd="0" presId="urn:microsoft.com/office/officeart/2018/2/layout/IconVerticalSolidList"/>
    <dgm:cxn modelId="{528E53E6-E140-49A6-8049-76AE50B14908}" type="presParOf" srcId="{02F84A83-246B-4A3D-9312-7001C63D1104}" destId="{E0454D9B-A97A-4916-AB64-E0130CA3D203}" srcOrd="2" destOrd="0" presId="urn:microsoft.com/office/officeart/2018/2/layout/IconVerticalSolidList"/>
    <dgm:cxn modelId="{193CA3B7-34C2-4A7E-BD7B-72FAD001C9F9}" type="presParOf" srcId="{E0454D9B-A97A-4916-AB64-E0130CA3D203}" destId="{9BC1FE84-2AC5-4915-8BDB-AA09713F5829}" srcOrd="0" destOrd="0" presId="urn:microsoft.com/office/officeart/2018/2/layout/IconVerticalSolidList"/>
    <dgm:cxn modelId="{DC05ADE0-AA9F-44C2-AD0E-44052A72CA05}" type="presParOf" srcId="{E0454D9B-A97A-4916-AB64-E0130CA3D203}" destId="{01B4BBF9-E136-4342-BE73-2309C9C97262}" srcOrd="1" destOrd="0" presId="urn:microsoft.com/office/officeart/2018/2/layout/IconVerticalSolidList"/>
    <dgm:cxn modelId="{89274361-5C0E-4931-B3EE-E9CEC02DBBCD}" type="presParOf" srcId="{E0454D9B-A97A-4916-AB64-E0130CA3D203}" destId="{2DF855B7-ED42-41E3-8FEA-A678AB9316AB}" srcOrd="2" destOrd="0" presId="urn:microsoft.com/office/officeart/2018/2/layout/IconVerticalSolidList"/>
    <dgm:cxn modelId="{DAD36CED-600C-479E-AAAB-0659D7C3AA8E}" type="presParOf" srcId="{E0454D9B-A97A-4916-AB64-E0130CA3D203}" destId="{B6C05697-4765-4F5B-AB87-A920DD1B8D05}" srcOrd="3" destOrd="0" presId="urn:microsoft.com/office/officeart/2018/2/layout/IconVerticalSolidList"/>
    <dgm:cxn modelId="{46C78D10-9D00-4CDE-998A-F9E4B8B95347}" type="presParOf" srcId="{02F84A83-246B-4A3D-9312-7001C63D1104}" destId="{0154091C-0AC8-4F2C-A701-7F202BB8581F}" srcOrd="3" destOrd="0" presId="urn:microsoft.com/office/officeart/2018/2/layout/IconVerticalSolidList"/>
    <dgm:cxn modelId="{2AAA86BC-AE7D-4DA4-890B-21ACCB71E8DD}" type="presParOf" srcId="{02F84A83-246B-4A3D-9312-7001C63D1104}" destId="{B56CA729-238D-43C8-8F75-769FC4F5F738}" srcOrd="4" destOrd="0" presId="urn:microsoft.com/office/officeart/2018/2/layout/IconVerticalSolidList"/>
    <dgm:cxn modelId="{6208141E-FEC4-446E-A0FC-A21D788BE1B9}" type="presParOf" srcId="{B56CA729-238D-43C8-8F75-769FC4F5F738}" destId="{397FB36A-7DAE-42C4-85C9-CC9CFCFB1EFB}" srcOrd="0" destOrd="0" presId="urn:microsoft.com/office/officeart/2018/2/layout/IconVerticalSolidList"/>
    <dgm:cxn modelId="{682FF808-8FE6-4B39-B8C6-87AF7DF87935}" type="presParOf" srcId="{B56CA729-238D-43C8-8F75-769FC4F5F738}" destId="{D00F8C98-EF8E-4B55-A49F-082CFF96898E}" srcOrd="1" destOrd="0" presId="urn:microsoft.com/office/officeart/2018/2/layout/IconVerticalSolidList"/>
    <dgm:cxn modelId="{998D62E0-154E-425A-8CE0-49DAF2592454}" type="presParOf" srcId="{B56CA729-238D-43C8-8F75-769FC4F5F738}" destId="{07623366-A066-4026-9840-16BD9D5BBB27}" srcOrd="2" destOrd="0" presId="urn:microsoft.com/office/officeart/2018/2/layout/IconVerticalSolidList"/>
    <dgm:cxn modelId="{777F4298-4BB8-44D7-8837-D936237D11D6}" type="presParOf" srcId="{B56CA729-238D-43C8-8F75-769FC4F5F738}" destId="{95D9E820-D41D-4F7E-BC48-95D12FB5659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BD5889-DECD-40CF-B5EC-840C89C8749A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FD641C4-E3BE-4B5A-B883-D9D2D8BD9615}">
      <dgm:prSet/>
      <dgm:spPr/>
      <dgm:t>
        <a:bodyPr/>
        <a:lstStyle/>
        <a:p>
          <a:r>
            <a:rPr lang="en-US" b="1" dirty="0"/>
            <a:t>Economic Impact:</a:t>
          </a:r>
          <a:r>
            <a:rPr lang="en-US" dirty="0"/>
            <a:t> </a:t>
          </a:r>
        </a:p>
        <a:p>
          <a:r>
            <a:rPr lang="en-US" dirty="0"/>
            <a:t>High childcare costs reduce workforce participation, particularly among women, limiting economic growth and household income potential.</a:t>
          </a:r>
        </a:p>
      </dgm:t>
    </dgm:pt>
    <dgm:pt modelId="{FB9D89B8-F8CF-4E0F-8D83-80B2D755DE23}" type="parTrans" cxnId="{866962DF-DF2F-43F9-97F5-250D7E5CF85D}">
      <dgm:prSet/>
      <dgm:spPr/>
      <dgm:t>
        <a:bodyPr/>
        <a:lstStyle/>
        <a:p>
          <a:endParaRPr lang="en-US"/>
        </a:p>
      </dgm:t>
    </dgm:pt>
    <dgm:pt modelId="{F29B7CA3-55FE-45B8-BBA5-271917C38F2D}" type="sibTrans" cxnId="{866962DF-DF2F-43F9-97F5-250D7E5CF85D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454350E-D7F9-40D0-9FDA-38B2BAD5631D}">
      <dgm:prSet/>
      <dgm:spPr/>
      <dgm:t>
        <a:bodyPr/>
        <a:lstStyle/>
        <a:p>
          <a:r>
            <a:rPr lang="en-US" b="1" dirty="0"/>
            <a:t>Social Equity:</a:t>
          </a:r>
          <a:r>
            <a:rPr lang="en-US" dirty="0"/>
            <a:t> </a:t>
          </a:r>
        </a:p>
        <a:p>
          <a:r>
            <a:rPr lang="en-US" dirty="0"/>
            <a:t>Childcare accessibility creates generational wealth gaps, as families with resources can invest in quality care while others face limited options.</a:t>
          </a:r>
        </a:p>
      </dgm:t>
    </dgm:pt>
    <dgm:pt modelId="{720E5F5E-B0B6-48A7-BC8B-6650591B6970}" type="parTrans" cxnId="{AD12AD2E-B184-4152-913C-A67B9A503348}">
      <dgm:prSet/>
      <dgm:spPr/>
      <dgm:t>
        <a:bodyPr/>
        <a:lstStyle/>
        <a:p>
          <a:endParaRPr lang="en-US"/>
        </a:p>
      </dgm:t>
    </dgm:pt>
    <dgm:pt modelId="{35FF0144-9724-41C9-BE73-ACF78AA0C55D}" type="sibTrans" cxnId="{AD12AD2E-B184-4152-913C-A67B9A503348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A8C04468-A1D4-46C4-A8E8-D2142839158D}">
      <dgm:prSet/>
      <dgm:spPr/>
      <dgm:t>
        <a:bodyPr/>
        <a:lstStyle/>
        <a:p>
          <a:r>
            <a:rPr lang="en-US" b="1" dirty="0"/>
            <a:t>Policy Urgency:</a:t>
          </a:r>
          <a:r>
            <a:rPr lang="en-US" dirty="0"/>
            <a:t> </a:t>
          </a:r>
        </a:p>
        <a:p>
          <a:r>
            <a:rPr lang="en-US" dirty="0"/>
            <a:t>Without intervention, childcare costs will continue outpacing wage growth, requiring comprehensive federal and state-level solutions.</a:t>
          </a:r>
        </a:p>
      </dgm:t>
    </dgm:pt>
    <dgm:pt modelId="{3B4CDEFA-1791-4409-B35E-818162D3BADF}" type="parTrans" cxnId="{ABC65742-F17B-424E-A448-8EFBCB88385C}">
      <dgm:prSet/>
      <dgm:spPr/>
      <dgm:t>
        <a:bodyPr/>
        <a:lstStyle/>
        <a:p>
          <a:endParaRPr lang="en-US"/>
        </a:p>
      </dgm:t>
    </dgm:pt>
    <dgm:pt modelId="{D77B677F-7B54-436B-A48E-70AD1C9A3442}" type="sibTrans" cxnId="{ABC65742-F17B-424E-A448-8EFBCB88385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92A4118-C360-44FE-A19C-0E7CCE4F941A}" type="pres">
      <dgm:prSet presAssocID="{B3BD5889-DECD-40CF-B5EC-840C89C8749A}" presName="Name0" presStyleCnt="0">
        <dgm:presLayoutVars>
          <dgm:animLvl val="lvl"/>
          <dgm:resizeHandles val="exact"/>
        </dgm:presLayoutVars>
      </dgm:prSet>
      <dgm:spPr/>
    </dgm:pt>
    <dgm:pt modelId="{F1C1B5B6-6F60-4DEB-B472-E6606B2F785E}" type="pres">
      <dgm:prSet presAssocID="{DFD641C4-E3BE-4B5A-B883-D9D2D8BD9615}" presName="compositeNode" presStyleCnt="0">
        <dgm:presLayoutVars>
          <dgm:bulletEnabled val="1"/>
        </dgm:presLayoutVars>
      </dgm:prSet>
      <dgm:spPr/>
    </dgm:pt>
    <dgm:pt modelId="{F7921A98-A8B9-4CDA-B274-9F79B4DD1ED5}" type="pres">
      <dgm:prSet presAssocID="{DFD641C4-E3BE-4B5A-B883-D9D2D8BD9615}" presName="bgRect" presStyleLbl="alignNode1" presStyleIdx="0" presStyleCnt="3"/>
      <dgm:spPr/>
    </dgm:pt>
    <dgm:pt modelId="{8026392D-0FEE-4460-A2BF-402829801071}" type="pres">
      <dgm:prSet presAssocID="{F29B7CA3-55FE-45B8-BBA5-271917C38F2D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5805EDB-9D5C-413F-AEED-505403ADDC59}" type="pres">
      <dgm:prSet presAssocID="{DFD641C4-E3BE-4B5A-B883-D9D2D8BD9615}" presName="nodeRect" presStyleLbl="alignNode1" presStyleIdx="0" presStyleCnt="3">
        <dgm:presLayoutVars>
          <dgm:bulletEnabled val="1"/>
        </dgm:presLayoutVars>
      </dgm:prSet>
      <dgm:spPr/>
    </dgm:pt>
    <dgm:pt modelId="{EC4982F6-B96C-4507-B62E-9322DDD999D1}" type="pres">
      <dgm:prSet presAssocID="{F29B7CA3-55FE-45B8-BBA5-271917C38F2D}" presName="sibTrans" presStyleCnt="0"/>
      <dgm:spPr/>
    </dgm:pt>
    <dgm:pt modelId="{45B7E5DA-657F-41A8-80B7-CE1A3A050227}" type="pres">
      <dgm:prSet presAssocID="{5454350E-D7F9-40D0-9FDA-38B2BAD5631D}" presName="compositeNode" presStyleCnt="0">
        <dgm:presLayoutVars>
          <dgm:bulletEnabled val="1"/>
        </dgm:presLayoutVars>
      </dgm:prSet>
      <dgm:spPr/>
    </dgm:pt>
    <dgm:pt modelId="{78FF8190-D32D-49B2-87C2-621BB85A0233}" type="pres">
      <dgm:prSet presAssocID="{5454350E-D7F9-40D0-9FDA-38B2BAD5631D}" presName="bgRect" presStyleLbl="alignNode1" presStyleIdx="1" presStyleCnt="3"/>
      <dgm:spPr/>
    </dgm:pt>
    <dgm:pt modelId="{9E6DB2AA-FD48-4248-995D-CF5A8A007893}" type="pres">
      <dgm:prSet presAssocID="{35FF0144-9724-41C9-BE73-ACF78AA0C55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E7F4616-DD3A-4F85-AA41-0981DDC3C100}" type="pres">
      <dgm:prSet presAssocID="{5454350E-D7F9-40D0-9FDA-38B2BAD5631D}" presName="nodeRect" presStyleLbl="alignNode1" presStyleIdx="1" presStyleCnt="3">
        <dgm:presLayoutVars>
          <dgm:bulletEnabled val="1"/>
        </dgm:presLayoutVars>
      </dgm:prSet>
      <dgm:spPr/>
    </dgm:pt>
    <dgm:pt modelId="{759B90DF-D908-48A5-9DE2-185CA86C009A}" type="pres">
      <dgm:prSet presAssocID="{35FF0144-9724-41C9-BE73-ACF78AA0C55D}" presName="sibTrans" presStyleCnt="0"/>
      <dgm:spPr/>
    </dgm:pt>
    <dgm:pt modelId="{D40C2135-8947-46E1-89AB-BFC9BEADC1DC}" type="pres">
      <dgm:prSet presAssocID="{A8C04468-A1D4-46C4-A8E8-D2142839158D}" presName="compositeNode" presStyleCnt="0">
        <dgm:presLayoutVars>
          <dgm:bulletEnabled val="1"/>
        </dgm:presLayoutVars>
      </dgm:prSet>
      <dgm:spPr/>
    </dgm:pt>
    <dgm:pt modelId="{63091016-E9FE-486D-A3DE-06798374F517}" type="pres">
      <dgm:prSet presAssocID="{A8C04468-A1D4-46C4-A8E8-D2142839158D}" presName="bgRect" presStyleLbl="alignNode1" presStyleIdx="2" presStyleCnt="3"/>
      <dgm:spPr/>
    </dgm:pt>
    <dgm:pt modelId="{8EA785E5-D087-42C2-BE69-01FCBDFA0921}" type="pres">
      <dgm:prSet presAssocID="{D77B677F-7B54-436B-A48E-70AD1C9A3442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13EA875E-61D3-4A9B-BA0E-F7DCF3C492D6}" type="pres">
      <dgm:prSet presAssocID="{A8C04468-A1D4-46C4-A8E8-D2142839158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AD12AD2E-B184-4152-913C-A67B9A503348}" srcId="{B3BD5889-DECD-40CF-B5EC-840C89C8749A}" destId="{5454350E-D7F9-40D0-9FDA-38B2BAD5631D}" srcOrd="1" destOrd="0" parTransId="{720E5F5E-B0B6-48A7-BC8B-6650591B6970}" sibTransId="{35FF0144-9724-41C9-BE73-ACF78AA0C55D}"/>
    <dgm:cxn modelId="{3D752E38-BA2A-4AAD-8146-8A24C1405E32}" type="presOf" srcId="{5454350E-D7F9-40D0-9FDA-38B2BAD5631D}" destId="{2E7F4616-DD3A-4F85-AA41-0981DDC3C100}" srcOrd="1" destOrd="0" presId="urn:microsoft.com/office/officeart/2016/7/layout/LinearBlockProcessNumbered"/>
    <dgm:cxn modelId="{0681E741-91DA-4FC2-8CFD-1E23AA79AE70}" type="presOf" srcId="{5454350E-D7F9-40D0-9FDA-38B2BAD5631D}" destId="{78FF8190-D32D-49B2-87C2-621BB85A0233}" srcOrd="0" destOrd="0" presId="urn:microsoft.com/office/officeart/2016/7/layout/LinearBlockProcessNumbered"/>
    <dgm:cxn modelId="{ABC65742-F17B-424E-A448-8EFBCB88385C}" srcId="{B3BD5889-DECD-40CF-B5EC-840C89C8749A}" destId="{A8C04468-A1D4-46C4-A8E8-D2142839158D}" srcOrd="2" destOrd="0" parTransId="{3B4CDEFA-1791-4409-B35E-818162D3BADF}" sibTransId="{D77B677F-7B54-436B-A48E-70AD1C9A3442}"/>
    <dgm:cxn modelId="{B60ED96A-E286-4732-B6EB-9D0C6C4EEAE1}" type="presOf" srcId="{DFD641C4-E3BE-4B5A-B883-D9D2D8BD9615}" destId="{F7921A98-A8B9-4CDA-B274-9F79B4DD1ED5}" srcOrd="0" destOrd="0" presId="urn:microsoft.com/office/officeart/2016/7/layout/LinearBlockProcessNumbered"/>
    <dgm:cxn modelId="{BD247D7F-C71B-4244-B167-AA2556C84F33}" type="presOf" srcId="{A8C04468-A1D4-46C4-A8E8-D2142839158D}" destId="{13EA875E-61D3-4A9B-BA0E-F7DCF3C492D6}" srcOrd="1" destOrd="0" presId="urn:microsoft.com/office/officeart/2016/7/layout/LinearBlockProcessNumbered"/>
    <dgm:cxn modelId="{988E5BC2-57DE-49C8-AE98-D44CF66833EE}" type="presOf" srcId="{35FF0144-9724-41C9-BE73-ACF78AA0C55D}" destId="{9E6DB2AA-FD48-4248-995D-CF5A8A007893}" srcOrd="0" destOrd="0" presId="urn:microsoft.com/office/officeart/2016/7/layout/LinearBlockProcessNumbered"/>
    <dgm:cxn modelId="{057537CC-03A7-4650-B69F-ACD6D99456CC}" type="presOf" srcId="{A8C04468-A1D4-46C4-A8E8-D2142839158D}" destId="{63091016-E9FE-486D-A3DE-06798374F517}" srcOrd="0" destOrd="0" presId="urn:microsoft.com/office/officeart/2016/7/layout/LinearBlockProcessNumbered"/>
    <dgm:cxn modelId="{842415CF-941C-44EE-9F63-451444222528}" type="presOf" srcId="{DFD641C4-E3BE-4B5A-B883-D9D2D8BD9615}" destId="{B5805EDB-9D5C-413F-AEED-505403ADDC59}" srcOrd="1" destOrd="0" presId="urn:microsoft.com/office/officeart/2016/7/layout/LinearBlockProcessNumbered"/>
    <dgm:cxn modelId="{866962DF-DF2F-43F9-97F5-250D7E5CF85D}" srcId="{B3BD5889-DECD-40CF-B5EC-840C89C8749A}" destId="{DFD641C4-E3BE-4B5A-B883-D9D2D8BD9615}" srcOrd="0" destOrd="0" parTransId="{FB9D89B8-F8CF-4E0F-8D83-80B2D755DE23}" sibTransId="{F29B7CA3-55FE-45B8-BBA5-271917C38F2D}"/>
    <dgm:cxn modelId="{B161DDE8-7052-424B-A71D-15690D780B31}" type="presOf" srcId="{D77B677F-7B54-436B-A48E-70AD1C9A3442}" destId="{8EA785E5-D087-42C2-BE69-01FCBDFA0921}" srcOrd="0" destOrd="0" presId="urn:microsoft.com/office/officeart/2016/7/layout/LinearBlockProcessNumbered"/>
    <dgm:cxn modelId="{4A9C4AEB-C240-4D92-9184-7820DF3B08C3}" type="presOf" srcId="{B3BD5889-DECD-40CF-B5EC-840C89C8749A}" destId="{692A4118-C360-44FE-A19C-0E7CCE4F941A}" srcOrd="0" destOrd="0" presId="urn:microsoft.com/office/officeart/2016/7/layout/LinearBlockProcessNumbered"/>
    <dgm:cxn modelId="{C0EB06F8-2FE0-434F-B568-C991D5A7B266}" type="presOf" srcId="{F29B7CA3-55FE-45B8-BBA5-271917C38F2D}" destId="{8026392D-0FEE-4460-A2BF-402829801071}" srcOrd="0" destOrd="0" presId="urn:microsoft.com/office/officeart/2016/7/layout/LinearBlockProcessNumbered"/>
    <dgm:cxn modelId="{B4C1C535-EB58-499C-9C57-F58FF8BA6801}" type="presParOf" srcId="{692A4118-C360-44FE-A19C-0E7CCE4F941A}" destId="{F1C1B5B6-6F60-4DEB-B472-E6606B2F785E}" srcOrd="0" destOrd="0" presId="urn:microsoft.com/office/officeart/2016/7/layout/LinearBlockProcessNumbered"/>
    <dgm:cxn modelId="{D9680281-56BB-4C30-AC8F-2E6EF410A03F}" type="presParOf" srcId="{F1C1B5B6-6F60-4DEB-B472-E6606B2F785E}" destId="{F7921A98-A8B9-4CDA-B274-9F79B4DD1ED5}" srcOrd="0" destOrd="0" presId="urn:microsoft.com/office/officeart/2016/7/layout/LinearBlockProcessNumbered"/>
    <dgm:cxn modelId="{6262620B-45F3-4E69-8905-040B35BAA2B8}" type="presParOf" srcId="{F1C1B5B6-6F60-4DEB-B472-E6606B2F785E}" destId="{8026392D-0FEE-4460-A2BF-402829801071}" srcOrd="1" destOrd="0" presId="urn:microsoft.com/office/officeart/2016/7/layout/LinearBlockProcessNumbered"/>
    <dgm:cxn modelId="{80E00D35-CE1B-4638-A339-04AEF750366C}" type="presParOf" srcId="{F1C1B5B6-6F60-4DEB-B472-E6606B2F785E}" destId="{B5805EDB-9D5C-413F-AEED-505403ADDC59}" srcOrd="2" destOrd="0" presId="urn:microsoft.com/office/officeart/2016/7/layout/LinearBlockProcessNumbered"/>
    <dgm:cxn modelId="{4F9DB299-9432-46E3-86F1-7257200E3EDD}" type="presParOf" srcId="{692A4118-C360-44FE-A19C-0E7CCE4F941A}" destId="{EC4982F6-B96C-4507-B62E-9322DDD999D1}" srcOrd="1" destOrd="0" presId="urn:microsoft.com/office/officeart/2016/7/layout/LinearBlockProcessNumbered"/>
    <dgm:cxn modelId="{F2792C12-31B8-44C9-84AE-51043215B373}" type="presParOf" srcId="{692A4118-C360-44FE-A19C-0E7CCE4F941A}" destId="{45B7E5DA-657F-41A8-80B7-CE1A3A050227}" srcOrd="2" destOrd="0" presId="urn:microsoft.com/office/officeart/2016/7/layout/LinearBlockProcessNumbered"/>
    <dgm:cxn modelId="{18E849F8-FC55-4168-A5F6-C83FD6CF73FC}" type="presParOf" srcId="{45B7E5DA-657F-41A8-80B7-CE1A3A050227}" destId="{78FF8190-D32D-49B2-87C2-621BB85A0233}" srcOrd="0" destOrd="0" presId="urn:microsoft.com/office/officeart/2016/7/layout/LinearBlockProcessNumbered"/>
    <dgm:cxn modelId="{0C6DC0A0-00F9-4799-A70F-E71FC09E6DA1}" type="presParOf" srcId="{45B7E5DA-657F-41A8-80B7-CE1A3A050227}" destId="{9E6DB2AA-FD48-4248-995D-CF5A8A007893}" srcOrd="1" destOrd="0" presId="urn:microsoft.com/office/officeart/2016/7/layout/LinearBlockProcessNumbered"/>
    <dgm:cxn modelId="{7AA604B9-37E3-4CD6-8A82-9D23ECC905DA}" type="presParOf" srcId="{45B7E5DA-657F-41A8-80B7-CE1A3A050227}" destId="{2E7F4616-DD3A-4F85-AA41-0981DDC3C100}" srcOrd="2" destOrd="0" presId="urn:microsoft.com/office/officeart/2016/7/layout/LinearBlockProcessNumbered"/>
    <dgm:cxn modelId="{2652FB24-E860-4277-BC7E-94ED985F4584}" type="presParOf" srcId="{692A4118-C360-44FE-A19C-0E7CCE4F941A}" destId="{759B90DF-D908-48A5-9DE2-185CA86C009A}" srcOrd="3" destOrd="0" presId="urn:microsoft.com/office/officeart/2016/7/layout/LinearBlockProcessNumbered"/>
    <dgm:cxn modelId="{3E5F1DF5-D7DC-451D-B283-4CDA214DF21B}" type="presParOf" srcId="{692A4118-C360-44FE-A19C-0E7CCE4F941A}" destId="{D40C2135-8947-46E1-89AB-BFC9BEADC1DC}" srcOrd="4" destOrd="0" presId="urn:microsoft.com/office/officeart/2016/7/layout/LinearBlockProcessNumbered"/>
    <dgm:cxn modelId="{E97C9393-B142-4343-B3E4-FC6EEACFA34D}" type="presParOf" srcId="{D40C2135-8947-46E1-89AB-BFC9BEADC1DC}" destId="{63091016-E9FE-486D-A3DE-06798374F517}" srcOrd="0" destOrd="0" presId="urn:microsoft.com/office/officeart/2016/7/layout/LinearBlockProcessNumbered"/>
    <dgm:cxn modelId="{21FF9965-7620-462C-A112-2A006B7661D2}" type="presParOf" srcId="{D40C2135-8947-46E1-89AB-BFC9BEADC1DC}" destId="{8EA785E5-D087-42C2-BE69-01FCBDFA0921}" srcOrd="1" destOrd="0" presId="urn:microsoft.com/office/officeart/2016/7/layout/LinearBlockProcessNumbered"/>
    <dgm:cxn modelId="{AC5D8961-2DEE-4730-8338-01BFF2A0E24D}" type="presParOf" srcId="{D40C2135-8947-46E1-89AB-BFC9BEADC1DC}" destId="{13EA875E-61D3-4A9B-BA0E-F7DCF3C492D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5B863-7F69-4FAC-A49D-C25D654A42F9}">
      <dsp:nvSpPr>
        <dsp:cNvPr id="0" name=""/>
        <dsp:cNvSpPr/>
      </dsp:nvSpPr>
      <dsp:spPr>
        <a:xfrm>
          <a:off x="0" y="46519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Largest share</a:t>
          </a:r>
          <a:r>
            <a:rPr lang="en-US" sz="1700" b="0" i="0" kern="1200" baseline="0" dirty="0"/>
            <a:t> of families spend </a:t>
          </a:r>
          <a:r>
            <a:rPr lang="en-US" sz="1700" b="1" i="0" kern="1200" baseline="0" dirty="0"/>
            <a:t>15–25%</a:t>
          </a:r>
          <a:r>
            <a:rPr lang="en-US" sz="1700" b="0" i="0" kern="1200" baseline="0" dirty="0"/>
            <a:t> of income on childcare (124.88%).</a:t>
          </a:r>
          <a:endParaRPr lang="en-US" sz="1700" kern="1200" dirty="0"/>
        </a:p>
      </dsp:txBody>
      <dsp:txXfrm>
        <a:off x="33012" y="79531"/>
        <a:ext cx="5061147" cy="610236"/>
      </dsp:txXfrm>
    </dsp:sp>
    <dsp:sp modelId="{BFFE0742-519E-49A4-ADF0-F96AA6794BDE}">
      <dsp:nvSpPr>
        <dsp:cNvPr id="0" name=""/>
        <dsp:cNvSpPr/>
      </dsp:nvSpPr>
      <dsp:spPr>
        <a:xfrm>
          <a:off x="0" y="771740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 dirty="0"/>
            <a:t>10–15%</a:t>
          </a:r>
          <a:r>
            <a:rPr lang="en-US" sz="1700" b="0" i="0" kern="1200" baseline="0" dirty="0"/>
            <a:t> range is also significant (108.60%).</a:t>
          </a:r>
          <a:endParaRPr lang="en-US" sz="1700" kern="1200" dirty="0"/>
        </a:p>
      </dsp:txBody>
      <dsp:txXfrm>
        <a:off x="33012" y="804752"/>
        <a:ext cx="5061147" cy="610236"/>
      </dsp:txXfrm>
    </dsp:sp>
    <dsp:sp modelId="{2B54BBE2-3CE0-4DE6-AC45-50AF47793BFC}">
      <dsp:nvSpPr>
        <dsp:cNvPr id="0" name=""/>
        <dsp:cNvSpPr/>
      </dsp:nvSpPr>
      <dsp:spPr>
        <a:xfrm>
          <a:off x="0" y="1496960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25–50%</a:t>
          </a:r>
          <a:r>
            <a:rPr lang="en-US" sz="1700" b="0" i="0" kern="1200" baseline="0"/>
            <a:t>: 105.57%, showing a sizable high-cost burden group.</a:t>
          </a:r>
          <a:endParaRPr lang="en-US" sz="1700" kern="1200"/>
        </a:p>
      </dsp:txBody>
      <dsp:txXfrm>
        <a:off x="33012" y="1529972"/>
        <a:ext cx="5061147" cy="610236"/>
      </dsp:txXfrm>
    </dsp:sp>
    <dsp:sp modelId="{346A3DCF-44B0-403D-B791-7A4089669EDA}">
      <dsp:nvSpPr>
        <dsp:cNvPr id="0" name=""/>
        <dsp:cNvSpPr/>
      </dsp:nvSpPr>
      <dsp:spPr>
        <a:xfrm>
          <a:off x="0" y="2222180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&gt;50%</a:t>
          </a:r>
          <a:r>
            <a:rPr lang="en-US" sz="1700" b="0" i="0" kern="1200" baseline="0"/>
            <a:t>: 91.93%, indicating extreme affordability issues for many families.</a:t>
          </a:r>
          <a:endParaRPr lang="en-US" sz="1700" kern="1200"/>
        </a:p>
      </dsp:txBody>
      <dsp:txXfrm>
        <a:off x="33012" y="2255192"/>
        <a:ext cx="5061147" cy="610236"/>
      </dsp:txXfrm>
    </dsp:sp>
    <dsp:sp modelId="{598286F5-8F4C-4228-B343-21918AD2D192}">
      <dsp:nvSpPr>
        <dsp:cNvPr id="0" name=""/>
        <dsp:cNvSpPr/>
      </dsp:nvSpPr>
      <dsp:spPr>
        <a:xfrm>
          <a:off x="0" y="2947400"/>
          <a:ext cx="5127171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Lowest share</a:t>
          </a:r>
          <a:r>
            <a:rPr lang="en-US" sz="1700" b="0" i="0" kern="1200" baseline="0"/>
            <a:t>: 0–5% (98.93%) and 5–10% (80.41%), showing few families experience minimal cost burden.</a:t>
          </a:r>
          <a:endParaRPr lang="en-US" sz="1700" kern="1200"/>
        </a:p>
      </dsp:txBody>
      <dsp:txXfrm>
        <a:off x="33012" y="2980412"/>
        <a:ext cx="5061147" cy="610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ECA59-6A97-41D6-859E-933FAC73D6F2}">
      <dsp:nvSpPr>
        <dsp:cNvPr id="0" name=""/>
        <dsp:cNvSpPr/>
      </dsp:nvSpPr>
      <dsp:spPr>
        <a:xfrm>
          <a:off x="0" y="465"/>
          <a:ext cx="11029950" cy="10895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E9B3D-62FD-43DD-920D-8921919ADE06}">
      <dsp:nvSpPr>
        <dsp:cNvPr id="0" name=""/>
        <dsp:cNvSpPr/>
      </dsp:nvSpPr>
      <dsp:spPr>
        <a:xfrm>
          <a:off x="329582" y="245609"/>
          <a:ext cx="599240" cy="5992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AC8C9-C49C-40D8-B4C9-2944189DEA56}">
      <dsp:nvSpPr>
        <dsp:cNvPr id="0" name=""/>
        <dsp:cNvSpPr/>
      </dsp:nvSpPr>
      <dsp:spPr>
        <a:xfrm>
          <a:off x="1258405" y="465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Expand Child Tax Credit:</a:t>
          </a:r>
          <a:r>
            <a:rPr lang="en-US" sz="2500" kern="1200" dirty="0"/>
            <a:t> Increase federal tax credits to offset childcare expenses, particularly for families earning under $100,000 annually.</a:t>
          </a:r>
        </a:p>
      </dsp:txBody>
      <dsp:txXfrm>
        <a:off x="1258405" y="465"/>
        <a:ext cx="9771544" cy="1089528"/>
      </dsp:txXfrm>
    </dsp:sp>
    <dsp:sp modelId="{9BC1FE84-2AC5-4915-8BDB-AA09713F5829}">
      <dsp:nvSpPr>
        <dsp:cNvPr id="0" name=""/>
        <dsp:cNvSpPr/>
      </dsp:nvSpPr>
      <dsp:spPr>
        <a:xfrm>
          <a:off x="0" y="1362376"/>
          <a:ext cx="11029950" cy="10895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B4BBF9-E136-4342-BE73-2309C9C97262}">
      <dsp:nvSpPr>
        <dsp:cNvPr id="0" name=""/>
        <dsp:cNvSpPr/>
      </dsp:nvSpPr>
      <dsp:spPr>
        <a:xfrm>
          <a:off x="329582" y="1607520"/>
          <a:ext cx="599240" cy="5992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05697-4765-4F5B-AB87-A920DD1B8D05}">
      <dsp:nvSpPr>
        <dsp:cNvPr id="0" name=""/>
        <dsp:cNvSpPr/>
      </dsp:nvSpPr>
      <dsp:spPr>
        <a:xfrm>
          <a:off x="1258405" y="136237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Subsidize Provider Infrastructure:</a:t>
          </a:r>
          <a:r>
            <a:rPr lang="en-US" sz="2500" kern="1200" dirty="0"/>
            <a:t> Invest in childcare facility construction and workforce development to increase supply and reduce costs.</a:t>
          </a:r>
        </a:p>
      </dsp:txBody>
      <dsp:txXfrm>
        <a:off x="1258405" y="1362376"/>
        <a:ext cx="9771544" cy="1089528"/>
      </dsp:txXfrm>
    </dsp:sp>
    <dsp:sp modelId="{397FB36A-7DAE-42C4-85C9-CC9CFCFB1EFB}">
      <dsp:nvSpPr>
        <dsp:cNvPr id="0" name=""/>
        <dsp:cNvSpPr/>
      </dsp:nvSpPr>
      <dsp:spPr>
        <a:xfrm>
          <a:off x="0" y="2724286"/>
          <a:ext cx="11029950" cy="10895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0F8C98-EF8E-4B55-A49F-082CFF96898E}">
      <dsp:nvSpPr>
        <dsp:cNvPr id="0" name=""/>
        <dsp:cNvSpPr/>
      </dsp:nvSpPr>
      <dsp:spPr>
        <a:xfrm>
          <a:off x="329582" y="2969430"/>
          <a:ext cx="599240" cy="5992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9E820-D41D-4F7E-BC48-95D12FB5659D}">
      <dsp:nvSpPr>
        <dsp:cNvPr id="0" name=""/>
        <dsp:cNvSpPr/>
      </dsp:nvSpPr>
      <dsp:spPr>
        <a:xfrm>
          <a:off x="1258405" y="2724286"/>
          <a:ext cx="9771544" cy="1089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08" tIns="115308" rIns="115308" bIns="1153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Employer Incentives:</a:t>
          </a:r>
          <a:r>
            <a:rPr lang="en-US" sz="2500" kern="1200"/>
            <a:t> Create tax breaks for companies offering childcare benefits or on-site facilities to their employees.</a:t>
          </a:r>
        </a:p>
      </dsp:txBody>
      <dsp:txXfrm>
        <a:off x="1258405" y="2724286"/>
        <a:ext cx="9771544" cy="1089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21A98-A8B9-4CDA-B274-9F79B4DD1ED5}">
      <dsp:nvSpPr>
        <dsp:cNvPr id="0" name=""/>
        <dsp:cNvSpPr/>
      </dsp:nvSpPr>
      <dsp:spPr>
        <a:xfrm>
          <a:off x="861" y="0"/>
          <a:ext cx="3489945" cy="381428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Economic Impact: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High childcare costs reduce workforce participation, particularly among women, limiting economic growth and household income potential.</a:t>
          </a:r>
        </a:p>
      </dsp:txBody>
      <dsp:txXfrm>
        <a:off x="861" y="1525712"/>
        <a:ext cx="3489945" cy="2288568"/>
      </dsp:txXfrm>
    </dsp:sp>
    <dsp:sp modelId="{8026392D-0FEE-4460-A2BF-402829801071}">
      <dsp:nvSpPr>
        <dsp:cNvPr id="0" name=""/>
        <dsp:cNvSpPr/>
      </dsp:nvSpPr>
      <dsp:spPr>
        <a:xfrm>
          <a:off x="861" y="0"/>
          <a:ext cx="3489945" cy="152571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61" y="0"/>
        <a:ext cx="3489945" cy="1525712"/>
      </dsp:txXfrm>
    </dsp:sp>
    <dsp:sp modelId="{78FF8190-D32D-49B2-87C2-621BB85A0233}">
      <dsp:nvSpPr>
        <dsp:cNvPr id="0" name=""/>
        <dsp:cNvSpPr/>
      </dsp:nvSpPr>
      <dsp:spPr>
        <a:xfrm>
          <a:off x="3770002" y="0"/>
          <a:ext cx="3489945" cy="381428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Social Equity: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Childcare accessibility creates generational wealth gaps, as families with resources can invest in quality care while others face limited options.</a:t>
          </a:r>
        </a:p>
      </dsp:txBody>
      <dsp:txXfrm>
        <a:off x="3770002" y="1525712"/>
        <a:ext cx="3489945" cy="2288568"/>
      </dsp:txXfrm>
    </dsp:sp>
    <dsp:sp modelId="{9E6DB2AA-FD48-4248-995D-CF5A8A007893}">
      <dsp:nvSpPr>
        <dsp:cNvPr id="0" name=""/>
        <dsp:cNvSpPr/>
      </dsp:nvSpPr>
      <dsp:spPr>
        <a:xfrm>
          <a:off x="3770002" y="0"/>
          <a:ext cx="3489945" cy="152571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70002" y="0"/>
        <a:ext cx="3489945" cy="1525712"/>
      </dsp:txXfrm>
    </dsp:sp>
    <dsp:sp modelId="{63091016-E9FE-486D-A3DE-06798374F517}">
      <dsp:nvSpPr>
        <dsp:cNvPr id="0" name=""/>
        <dsp:cNvSpPr/>
      </dsp:nvSpPr>
      <dsp:spPr>
        <a:xfrm>
          <a:off x="7539143" y="0"/>
          <a:ext cx="3489945" cy="381428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0" rIns="344729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Policy Urgency: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Without intervention, childcare costs will continue outpacing wage growth, requiring comprehensive federal and state-level solutions.</a:t>
          </a:r>
        </a:p>
      </dsp:txBody>
      <dsp:txXfrm>
        <a:off x="7539143" y="1525712"/>
        <a:ext cx="3489945" cy="2288568"/>
      </dsp:txXfrm>
    </dsp:sp>
    <dsp:sp modelId="{8EA785E5-D087-42C2-BE69-01FCBDFA0921}">
      <dsp:nvSpPr>
        <dsp:cNvPr id="0" name=""/>
        <dsp:cNvSpPr/>
      </dsp:nvSpPr>
      <dsp:spPr>
        <a:xfrm>
          <a:off x="7539143" y="0"/>
          <a:ext cx="3489945" cy="152571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729" tIns="165100" rIns="34472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539143" y="0"/>
        <a:ext cx="3489945" cy="1525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1D444-E7FA-48E7-AA74-A2D8636EEC6B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0C99E-D81E-4337-8253-2D360648A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321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070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Childcare costs are rising across the country, often faster than household incomes. </a:t>
            </a:r>
          </a:p>
          <a:p>
            <a:r>
              <a:rPr lang="en-US" dirty="0"/>
              <a:t>This puts the greatest strain on low- and middle-income families, limiting their access to quality care. </a:t>
            </a:r>
          </a:p>
          <a:p>
            <a:r>
              <a:rPr lang="en-US" dirty="0"/>
              <a:t>Affordability also varies widely depending on where families live. </a:t>
            </a:r>
          </a:p>
          <a:p>
            <a:r>
              <a:rPr lang="en-US" dirty="0"/>
              <a:t>Our analysis examines cost trends, income burdens, and regional differences to help guide effective policy and community solutions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017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compares median household income (MHI) and median annual childcare costs from 2008 to 2018. </a:t>
            </a:r>
          </a:p>
          <a:p>
            <a:r>
              <a:rPr lang="en-US" dirty="0"/>
              <a:t>Over this decade, MHI grew from around $41,633 to nearly $49,888, showing a steady rise. </a:t>
            </a:r>
          </a:p>
          <a:p>
            <a:r>
              <a:rPr lang="en-US" dirty="0"/>
              <a:t>However, childcare costs also increased consistently, from $4,960 in 2008 to $6,256 in 2018. </a:t>
            </a:r>
          </a:p>
          <a:p>
            <a:r>
              <a:rPr lang="en-US" dirty="0"/>
              <a:t>While incomes rose by about 20%, childcare costs rose by more than 26%, indicating that childcare expenses are growing faster than household earnings. </a:t>
            </a:r>
          </a:p>
          <a:p>
            <a:r>
              <a:rPr lang="en-US" dirty="0"/>
              <a:t>This trend suggests an increasing strain on family budgets, even as overall incomes improve.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98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Significant cost gap exists between infant and preschool care across states.</a:t>
            </a:r>
          </a:p>
          <a:p>
            <a:r>
              <a:rPr lang="en-US" dirty="0"/>
              <a:t>Difference ranges from as low as $3.58 to as high as $53.57 per week.</a:t>
            </a:r>
          </a:p>
          <a:p>
            <a:r>
              <a:rPr lang="en-US" dirty="0"/>
              <a:t>Many states show much higher costs for infant care compared to preschool.</a:t>
            </a:r>
          </a:p>
          <a:p>
            <a:r>
              <a:rPr lang="en-US" dirty="0"/>
              <a:t>Highlights the urgent need to address affordability for infant care.</a:t>
            </a:r>
          </a:p>
          <a:p>
            <a:r>
              <a:rPr lang="en-US" dirty="0"/>
              <a:t>Understanding this gap helps prioritize funding and policy interventions.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483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Texas (99.86%), Connecticut (99.31%), Arizona (98.17%), Pennsylvania (98.89%), Wyoming (98.64%), and Washington (96.13%) show the highest burdens.</a:t>
            </a:r>
          </a:p>
          <a:p>
            <a:r>
              <a:rPr lang="en-US" dirty="0"/>
              <a:t>Majority of states exceed 70% of families over the affordability threshold.</a:t>
            </a:r>
          </a:p>
          <a:p>
            <a:r>
              <a:rPr lang="en-US" dirty="0"/>
              <a:t>We also see Alaska (12.38%), California (8.83%), Missouri (1.66%), and Illinois (6.37%) having significantly lower shares.</a:t>
            </a:r>
          </a:p>
          <a:p>
            <a:r>
              <a:rPr lang="en-US" dirty="0"/>
              <a:t>This indicates there is large disparities between highest and lowest states (range: ~1.66% to ~99.86%).</a:t>
            </a:r>
          </a:p>
          <a:p>
            <a:r>
              <a:rPr lang="en-US" dirty="0"/>
              <a:t>Many high-percentage states cluster in the Northeast, South, and West.</a:t>
            </a:r>
          </a:p>
          <a:p>
            <a:r>
              <a:rPr lang="en-US" dirty="0"/>
              <a:t>This Indicates significant national challenge; affordability issues prevalent but vary sharply by state.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480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pie chart illustrates the distribution of families based on their childcare cost-to-income ratio.</a:t>
            </a:r>
          </a:p>
          <a:p>
            <a:r>
              <a:rPr lang="en-US" dirty="0"/>
              <a:t>The largest segment falls within the 15–25% range, indicating that many families dedicate a substantial portion of their income to childcare.</a:t>
            </a:r>
          </a:p>
          <a:p>
            <a:r>
              <a:rPr lang="en-US" dirty="0"/>
              <a:t>The 10–15% and 25–50% categories also represent significant shares, suggesting that childcare costs frequently exceed the commonly accepted affordability threshold of 10%.</a:t>
            </a:r>
          </a:p>
          <a:p>
            <a:r>
              <a:rPr lang="en-US" dirty="0"/>
              <a:t>Notably, over 90% of families in the &gt;50% category face extremely high cost burdens, where childcare consumes more than half of household income.</a:t>
            </a:r>
          </a:p>
          <a:p>
            <a:r>
              <a:rPr lang="en-US" dirty="0"/>
              <a:t>Conversely, relatively few families fall into the 0–5% or 5–10% ranges, indicating that only a small minority experiences minimal childcare expenses relative to income.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991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84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0C99E-D81E-4337-8253-2D360648A32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27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64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06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6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78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00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9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3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82884F1-FFEA-405F-9602-3DCA865EDA4E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00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92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8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291B17-9318-49DB-B28B-6E5994AE958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10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  <p:sldLayoutId id="2147484127" r:id="rId5"/>
    <p:sldLayoutId id="2147484128" r:id="rId6"/>
    <p:sldLayoutId id="2147484129" r:id="rId7"/>
    <p:sldLayoutId id="2147484130" r:id="rId8"/>
    <p:sldLayoutId id="2147484131" r:id="rId9"/>
    <p:sldLayoutId id="2147484132" r:id="rId10"/>
    <p:sldLayoutId id="214748413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40B2299-7549-3C0A-A88F-006CC54C7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686015"/>
          </a:xfrm>
        </p:spPr>
        <p:txBody>
          <a:bodyPr>
            <a:normAutofit/>
          </a:bodyPr>
          <a:lstStyle/>
          <a:p>
            <a:r>
              <a:rPr lang="en-US" sz="4400"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The Childcare Cost Crisis: Understanding Affordability and Policy Solutions</a:t>
            </a:r>
            <a:br>
              <a:rPr lang="en-US" sz="4400"/>
            </a:br>
            <a:endParaRPr lang="en-IN" sz="440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7C1E1C7-6B0F-81DA-396C-FE3234172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Quattrocento" pitchFamily="34" charset="0"/>
              </a:rPr>
              <a:t>Karthika Vellingiri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B309A9B-16B6-B575-6D38-BA97558DE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53" r="-2" b="12451"/>
          <a:stretch>
            <a:fillRect/>
          </a:stretch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99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1960BE-0913-F7A0-6CBC-5F5C9821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spc="-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10" name="Picture 9" descr="A graph and money bag with coins and calculator&#10;&#10;AI-generated content may be incorrect.">
            <a:extLst>
              <a:ext uri="{FF2B5EF4-FFF2-40B4-BE49-F238E27FC236}">
                <a16:creationId xmlns:a16="http://schemas.microsoft.com/office/drawing/2014/main" id="{33972E08-317F-4946-7E05-663D795757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19" r="10693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48920EC-4281-B51D-8530-9996ACBDC3D1}"/>
              </a:ext>
            </a:extLst>
          </p:cNvPr>
          <p:cNvSpPr txBox="1"/>
          <p:nvPr/>
        </p:nvSpPr>
        <p:spPr>
          <a:xfrm>
            <a:off x="5181601" y="2198914"/>
            <a:ext cx="6368142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Childcare expenses continue to rise nationwide, often outpacing household income growth.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The burden falls most heavily on low- and middle-income families, limiting access to affordable, quality care.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Affordability is shaped by both income levels and where families live.</a:t>
            </a:r>
          </a:p>
          <a:p>
            <a:pPr marL="285750" marR="0" lvl="0" indent="-28575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This analysis explores childcare costs, income burdens, and regional disparities, offering insights to guide policymakers, advocates, and communities toward effective solutions.</a:t>
            </a:r>
          </a:p>
        </p:txBody>
      </p:sp>
    </p:spTree>
    <p:extLst>
      <p:ext uri="{BB962C8B-B14F-4D97-AF65-F5344CB8AC3E}">
        <p14:creationId xmlns:p14="http://schemas.microsoft.com/office/powerpoint/2010/main" val="9966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D13D7-1746-FC83-8872-3FB8C85E2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US" sz="3100" b="1" dirty="0">
                <a:solidFill>
                  <a:srgbClr val="FFFFFF"/>
                </a:solidFill>
              </a:rPr>
              <a:t>Median Household Income vs Childcare Cost Over Time</a:t>
            </a:r>
            <a:endParaRPr lang="en-IN" sz="3100" b="1" dirty="0">
              <a:solidFill>
                <a:srgbClr val="FFFFFF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C28C6BB-5229-FDD0-17C6-714FA13536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371" y="2653800"/>
            <a:ext cx="3084844" cy="3335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 household income increased by about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21%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(from $41K to $49.8K)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Childcare costs increased by nearly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26%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(from $4.9K to $6.2K)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Childcare cost growth outpaces income growth by roughly </a:t>
            </a:r>
            <a:r>
              <a:rPr lang="en-US" altLang="en-US" sz="1500" b="1" dirty="0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percentage points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500" dirty="0">
                <a:solidFill>
                  <a:srgbClr val="FFFFFF"/>
                </a:solidFill>
                <a:latin typeface="Arial" panose="020B0604020202020204" pitchFamily="34" charset="0"/>
              </a:rPr>
              <a:t>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ndicates rising financial pressure on families over time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>
                <a:srgbClr val="F08B2D"/>
              </a:buClr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320FB0FF-8518-4BC2-20DC-51F403994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742017" y="1907929"/>
            <a:ext cx="6798082" cy="304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7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398F28-36E6-F2A6-717A-368A6E69F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/>
              <a:t>Infant vs Preschool Care Cost Gap by State</a:t>
            </a:r>
          </a:p>
        </p:txBody>
      </p:sp>
      <p:pic>
        <p:nvPicPr>
          <p:cNvPr id="6" name="Content Placeholder 5" descr="A graph of a number of red and white bars&#10;&#10;AI-generated content may be incorrect.">
            <a:extLst>
              <a:ext uri="{FF2B5EF4-FFF2-40B4-BE49-F238E27FC236}">
                <a16:creationId xmlns:a16="http://schemas.microsoft.com/office/drawing/2014/main" id="{66737468-E859-7A9C-444A-1278E384A6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245063"/>
            <a:ext cx="5451627" cy="4047833"/>
          </a:xfrm>
          <a:prstGeom prst="rect">
            <a:avLst/>
          </a:prstGeom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6">
            <a:extLst>
              <a:ext uri="{FF2B5EF4-FFF2-40B4-BE49-F238E27FC236}">
                <a16:creationId xmlns:a16="http://schemas.microsoft.com/office/drawing/2014/main" id="{950C10E1-DFD5-2AC6-C579-7F5DD2B5A6E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Infant vs preschool care cost gap: $3.58 to $53.57/week</a:t>
            </a:r>
          </a:p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Infant care generally more expensive</a:t>
            </a:r>
          </a:p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Large variation across states</a:t>
            </a:r>
          </a:p>
          <a:p>
            <a:pPr marR="0" lvl="0" fontAlgn="base"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Critical affordability issue for infant care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88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18CD-FBC4-38E6-11A1-684A135E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 b="1" dirty="0"/>
              <a:t>Families Exceeding Childcare Affordability Threshold (10%)</a:t>
            </a:r>
          </a:p>
        </p:txBody>
      </p:sp>
      <p:pic>
        <p:nvPicPr>
          <p:cNvPr id="6" name="Content Placeholder 5" descr="A graph with orange dots&#10;&#10;AI-generated content may be incorrect.">
            <a:extLst>
              <a:ext uri="{FF2B5EF4-FFF2-40B4-BE49-F238E27FC236}">
                <a16:creationId xmlns:a16="http://schemas.microsoft.com/office/drawing/2014/main" id="{937BC9F6-2596-0AD3-9F39-9686F9D21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543" y="1797523"/>
            <a:ext cx="6953577" cy="293788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4E9133B-944E-808D-67D8-84EE679EBB3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49225" y="2133600"/>
            <a:ext cx="3650278" cy="37592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70%+ families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exceed 10% childcare cost in many states.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Highest: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TX 99.86%, CT 99.31%, AZ 98.17%, PA 98.89%, WY 98.64%.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Lowest: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MO 1.66%, IL 6.37%, CA 8.83%, NY 8.55%.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Gap: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~98 percentage points between highest &amp; lowest.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Affordability issues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widespread but uneven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across states.</a:t>
            </a:r>
          </a:p>
          <a:p>
            <a:pPr marL="0" marR="0" lvl="0" indent="0" fontAlgn="base">
              <a:buSzTx/>
              <a:buFont typeface="Wingdings 3" charset="2"/>
              <a:buChar char="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4149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65D6C-7464-6BA5-7826-11E4BE96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34" y="370869"/>
            <a:ext cx="5366656" cy="146519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Distribution of Families by Childcare Cost-to-Income Ratio</a:t>
            </a:r>
            <a:endParaRPr lang="en-US" sz="4800" b="1" dirty="0">
              <a:solidFill>
                <a:schemeClr val="tx1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47" name="Rectangle 1">
            <a:extLst>
              <a:ext uri="{FF2B5EF4-FFF2-40B4-BE49-F238E27FC236}">
                <a16:creationId xmlns:a16="http://schemas.microsoft.com/office/drawing/2014/main" id="{31B52507-925C-467F-1D55-D15B69C7C4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4589447"/>
              </p:ext>
            </p:extLst>
          </p:nvPr>
        </p:nvGraphicFramePr>
        <p:xfrm>
          <a:off x="490917" y="2206936"/>
          <a:ext cx="5127172" cy="367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F40734-2385-BA83-B2DC-F4EACC3B1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4" t="17809" r="2524"/>
          <a:stretch>
            <a:fillRect/>
          </a:stretch>
        </p:blipFill>
        <p:spPr>
          <a:xfrm>
            <a:off x="5938724" y="1211042"/>
            <a:ext cx="5828191" cy="42503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196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FF3D1B-726A-A88F-A4FC-95B95ECE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Policy Recommendations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5128B3D0-FA90-4D81-E384-18495A2A8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361580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5927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2B97-424A-31C0-8D65-B0DF2D78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/>
              <a:t>Implications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711E36-C926-5298-D64D-FC85E1819D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458417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995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3C90-3FB7-2966-57D9-988503768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21" y="674915"/>
            <a:ext cx="11029616" cy="571473"/>
          </a:xfrm>
        </p:spPr>
        <p:txBody>
          <a:bodyPr>
            <a:normAutofit fontScale="90000"/>
          </a:bodyPr>
          <a:lstStyle/>
          <a:p>
            <a:r>
              <a:rPr lang="en-IN" dirty="0"/>
              <a:t>Tableau Dashboard</a:t>
            </a:r>
          </a:p>
        </p:txBody>
      </p:sp>
      <p:pic>
        <p:nvPicPr>
          <p:cNvPr id="7" name="Content Placeholder 6" descr="A screenshot of a graph&#10;&#10;AI-generated content may be incorrect.">
            <a:extLst>
              <a:ext uri="{FF2B5EF4-FFF2-40B4-BE49-F238E27FC236}">
                <a16:creationId xmlns:a16="http://schemas.microsoft.com/office/drawing/2014/main" id="{BA39879C-A1C8-46B0-B5DD-98E77F69F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05" y="1846263"/>
            <a:ext cx="10021715" cy="4022725"/>
          </a:xfrm>
        </p:spPr>
      </p:pic>
    </p:spTree>
    <p:extLst>
      <p:ext uri="{BB962C8B-B14F-4D97-AF65-F5344CB8AC3E}">
        <p14:creationId xmlns:p14="http://schemas.microsoft.com/office/powerpoint/2010/main" val="764493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32F713-8B33-1DA5-F7B5-E00050529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35060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784</TotalTime>
  <Words>937</Words>
  <Application>Microsoft Office PowerPoint</Application>
  <PresentationFormat>Widescreen</PresentationFormat>
  <Paragraphs>79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Quattrocento</vt:lpstr>
      <vt:lpstr>Sora Semi Bold</vt:lpstr>
      <vt:lpstr>Syne Extra Bold</vt:lpstr>
      <vt:lpstr>Wingdings</vt:lpstr>
      <vt:lpstr>Wingdings 3</vt:lpstr>
      <vt:lpstr>Retrospect</vt:lpstr>
      <vt:lpstr>The Childcare Cost Crisis: Understanding Affordability and Policy Solutions </vt:lpstr>
      <vt:lpstr>Introduction</vt:lpstr>
      <vt:lpstr>Median Household Income vs Childcare Cost Over Time</vt:lpstr>
      <vt:lpstr>Infant vs Preschool Care Cost Gap by State</vt:lpstr>
      <vt:lpstr>Families Exceeding Childcare Affordability Threshold (10%)</vt:lpstr>
      <vt:lpstr>Distribution of Families by Childcare Cost-to-Income Ratio</vt:lpstr>
      <vt:lpstr>Policy Recommendations</vt:lpstr>
      <vt:lpstr>Implications</vt:lpstr>
      <vt:lpstr>Tableau Dashboard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Karthika Vellingiri</dc:creator>
  <cp:lastModifiedBy>Karthika Vellingiri</cp:lastModifiedBy>
  <cp:revision>2</cp:revision>
  <dcterms:created xsi:type="dcterms:W3CDTF">2025-07-12T05:34:47Z</dcterms:created>
  <dcterms:modified xsi:type="dcterms:W3CDTF">2026-03-07T03:44:30Z</dcterms:modified>
</cp:coreProperties>
</file>